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7" r:id="rId1"/>
  </p:sldMasterIdLst>
  <p:sldIdLst>
    <p:sldId id="256" r:id="rId2"/>
    <p:sldId id="259" r:id="rId3"/>
    <p:sldId id="257" r:id="rId4"/>
    <p:sldId id="260" r:id="rId5"/>
    <p:sldId id="262" r:id="rId6"/>
    <p:sldId id="263" r:id="rId7"/>
    <p:sldId id="264" r:id="rId8"/>
    <p:sldId id="265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028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162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069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454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250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062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835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969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9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725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9446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471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2043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394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422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144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E1E0D-46F6-4416-8B3C-F5A08B57745F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B0C5993-CB8D-4E84-A58A-753F40DB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7641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8" r:id="rId1"/>
    <p:sldLayoutId id="2147484009" r:id="rId2"/>
    <p:sldLayoutId id="2147484010" r:id="rId3"/>
    <p:sldLayoutId id="2147484011" r:id="rId4"/>
    <p:sldLayoutId id="2147484012" r:id="rId5"/>
    <p:sldLayoutId id="2147484013" r:id="rId6"/>
    <p:sldLayoutId id="2147484014" r:id="rId7"/>
    <p:sldLayoutId id="2147484015" r:id="rId8"/>
    <p:sldLayoutId id="2147484016" r:id="rId9"/>
    <p:sldLayoutId id="2147484017" r:id="rId10"/>
    <p:sldLayoutId id="2147484018" r:id="rId11"/>
    <p:sldLayoutId id="2147484019" r:id="rId12"/>
    <p:sldLayoutId id="2147484020" r:id="rId13"/>
    <p:sldLayoutId id="2147484021" r:id="rId14"/>
    <p:sldLayoutId id="2147484022" r:id="rId15"/>
    <p:sldLayoutId id="21474840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ExcelCaseStudy.xlsx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51D50-74A0-B9DA-CEFA-6FCAFDA14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55406"/>
            <a:ext cx="9144000" cy="267437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FMCG Warehouse: Optimizing Amazon's Distribution Efficiency</a:t>
            </a:r>
            <a:br>
              <a:rPr lang="en-IN" dirty="0"/>
            </a:br>
            <a:r>
              <a:rPr lang="en-IN" sz="5300" dirty="0"/>
              <a:t>EXCEL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5339D-8066-FB8C-6627-6A1E9E418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6516" y="3529781"/>
            <a:ext cx="9144000" cy="1029929"/>
          </a:xfrm>
        </p:spPr>
        <p:txBody>
          <a:bodyPr/>
          <a:lstStyle/>
          <a:p>
            <a:r>
              <a:rPr lang="en-IN" dirty="0"/>
              <a:t>-BY KOMAL CHAHAL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DC34A5-BF0E-7877-EDB5-1B5527D6E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25" y="162799"/>
            <a:ext cx="1691149" cy="103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521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4F81A-9E38-32C0-1670-CD139C454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9264"/>
            <a:ext cx="6961239" cy="973393"/>
          </a:xfrm>
        </p:spPr>
        <p:txBody>
          <a:bodyPr>
            <a:normAutofit/>
          </a:bodyPr>
          <a:lstStyle/>
          <a:p>
            <a:pPr algn="l"/>
            <a:r>
              <a:rPr lang="en-IN" sz="4800" dirty="0"/>
              <a:t>DATA REQUIREMENTS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392AF-2B69-F0F6-AA82-DDF7DD22B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43432"/>
            <a:ext cx="9144000" cy="4345858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Warehouse capacity and utilization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Refill requests and transport issues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Competitor presence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Number of retail shops served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Product weight and storage requirements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Electric supply and distance from the hub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Worker numbers and warehouse establishment year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Issues reported, government certifications, and inspections</a:t>
            </a:r>
            <a:endParaRPr lang="en-IN" sz="2000" dirty="0"/>
          </a:p>
          <a:p>
            <a:pPr algn="l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20659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B80D3-7DE5-CC7B-27F9-2CD93CE5A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3280"/>
            <a:ext cx="6349181" cy="1158875"/>
          </a:xfrm>
        </p:spPr>
        <p:txBody>
          <a:bodyPr>
            <a:noAutofit/>
          </a:bodyPr>
          <a:lstStyle/>
          <a:p>
            <a:r>
              <a:rPr lang="en-IN" sz="48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D7ED6-E664-8A1D-B327-B33FC7E0C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4606"/>
            <a:ext cx="10515600" cy="410235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Background: Amazon operates an extensive network of warehouses across various regions.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The Problem : </a:t>
            </a:r>
            <a:r>
              <a:rPr lang="en-IN" sz="2000" dirty="0"/>
              <a:t> Amazon is experiencing inefficiencies in its warehouse operations. These inefficiencies are affecting the supply chain, leading to stockouts, delivery delays, and Increased costs. 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Goal: To identify root causes and propose data-driven solutions to optimize warehouse performance.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90105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0590C-F463-A2C0-770E-267DF6DD3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031" y="574094"/>
            <a:ext cx="8534400" cy="1507067"/>
          </a:xfrm>
        </p:spPr>
        <p:txBody>
          <a:bodyPr>
            <a:normAutofit/>
          </a:bodyPr>
          <a:lstStyle/>
          <a:p>
            <a:r>
              <a:rPr lang="en-US" sz="4800" dirty="0"/>
              <a:t>METHODOLOGY</a:t>
            </a:r>
            <a:endParaRPr lang="en-IN" sz="4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0A0D1C-6A54-CC3A-757D-BD9C72E64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031" y="1750142"/>
            <a:ext cx="8534400" cy="436989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Data Preprocessing: Used Power Query for comprehensive data cleaning, enhancing accuracy and consistency.</a:t>
            </a:r>
          </a:p>
          <a:p>
            <a:pPr>
              <a:lnSpc>
                <a:spcPct val="150000"/>
              </a:lnSpc>
            </a:pPr>
            <a:r>
              <a:rPr lang="en-US" dirty="0"/>
              <a:t>Analytical Techniques: Applied advanced Pivot Table and charts to analyze warehouse operations and  derive actionable insights.</a:t>
            </a:r>
          </a:p>
          <a:p>
            <a:pPr>
              <a:lnSpc>
                <a:spcPct val="150000"/>
              </a:lnSpc>
            </a:pPr>
            <a:r>
              <a:rPr lang="en-US" dirty="0"/>
              <a:t>Performance Metrics: Evaluated warehouse performance using metrics such as refill requests, storage issues, transport issues, and workforce distribution.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4669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852ED09-E717-B921-A212-170DFAD36DEE}"/>
              </a:ext>
            </a:extLst>
          </p:cNvPr>
          <p:cNvSpPr txBox="1"/>
          <p:nvPr/>
        </p:nvSpPr>
        <p:spPr>
          <a:xfrm>
            <a:off x="698092" y="539938"/>
            <a:ext cx="6744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1"/>
                </a:solidFill>
              </a:rPr>
              <a:t>BUSINESS QUESTIONS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61EBA8-8AFE-5A34-7179-7EAB95004BB9}"/>
              </a:ext>
            </a:extLst>
          </p:cNvPr>
          <p:cNvSpPr txBox="1"/>
          <p:nvPr/>
        </p:nvSpPr>
        <p:spPr>
          <a:xfrm>
            <a:off x="619433" y="1809135"/>
            <a:ext cx="91046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average warehouse capacity size?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 are warehouses distributed across urban and rural areas?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 many retail shops are served by each zone?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average number of workers per warehouse?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percentage of warehouses have electric supply?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average distance of warehouses from the central hub (zone &amp; region-wise)?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 many warehouses reported storage issues in the last 3 months (zone &amp; region-wise)?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Which zones had the highest refill requests in the last 3 months?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average number of government checks per zone and region?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most common type of government certification?</a:t>
            </a:r>
          </a:p>
        </p:txBody>
      </p:sp>
    </p:spTree>
    <p:extLst>
      <p:ext uri="{BB962C8B-B14F-4D97-AF65-F5344CB8AC3E}">
        <p14:creationId xmlns:p14="http://schemas.microsoft.com/office/powerpoint/2010/main" val="2827580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6F75D0-67F3-F005-DA99-289E012FDF90}"/>
              </a:ext>
            </a:extLst>
          </p:cNvPr>
          <p:cNvSpPr txBox="1"/>
          <p:nvPr/>
        </p:nvSpPr>
        <p:spPr>
          <a:xfrm>
            <a:off x="530942" y="1563330"/>
            <a:ext cx="934064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Is there a correlation between workforce size and storage issues?            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relationship between warehouse capacity and refill requests?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Which zone reports the highest average transport issues?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average product weight per ton in temperature-controlled warehouses?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Which top 5 warehouses had the highest government checks and what were their storage issues?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 does workforce size differ between urban and rural warehouses?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Does distance from the hub impact transport issues?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 does competitor presence affect refill requests?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Is there a difference in storage issues between certified and non-certified warehouses?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Does warehouse establishment year influence breakdown frequency?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6B6C9-138E-8536-B532-60424B607097}"/>
              </a:ext>
            </a:extLst>
          </p:cNvPr>
          <p:cNvSpPr txBox="1"/>
          <p:nvPr/>
        </p:nvSpPr>
        <p:spPr>
          <a:xfrm>
            <a:off x="757083" y="468134"/>
            <a:ext cx="7207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1"/>
                </a:solidFill>
              </a:rPr>
              <a:t>BUSINESS QUESTIONS</a:t>
            </a:r>
          </a:p>
        </p:txBody>
      </p:sp>
    </p:spTree>
    <p:extLst>
      <p:ext uri="{BB962C8B-B14F-4D97-AF65-F5344CB8AC3E}">
        <p14:creationId xmlns:p14="http://schemas.microsoft.com/office/powerpoint/2010/main" val="369583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EEA72-2417-069A-2B01-39D37893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220132"/>
            <a:ext cx="8534400" cy="1058062"/>
          </a:xfrm>
        </p:spPr>
        <p:txBody>
          <a:bodyPr>
            <a:normAutofit/>
          </a:bodyPr>
          <a:lstStyle/>
          <a:p>
            <a:r>
              <a:rPr lang="en-IN" sz="4800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11510-619E-E96B-224F-0F2A49EF1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728" y="1278194"/>
            <a:ext cx="8823581" cy="5104036"/>
          </a:xfrm>
        </p:spPr>
        <p:txBody>
          <a:bodyPr>
            <a:noAutofit/>
          </a:bodyPr>
          <a:lstStyle/>
          <a:p>
            <a:r>
              <a:rPr lang="en-US" dirty="0"/>
              <a:t>Retail Demand: North Zone serves the highest number of retail shops, indicating strong demand concentration.</a:t>
            </a:r>
          </a:p>
          <a:p>
            <a:r>
              <a:rPr lang="en-US" dirty="0"/>
              <a:t>Operational Risk: North Zone and Regional Zone 6 report higher storage issues, highlighting operational pressure in these areas.</a:t>
            </a:r>
          </a:p>
          <a:p>
            <a:r>
              <a:rPr lang="en-US" dirty="0"/>
              <a:t>Capacity vs Refill: Larger capacity warehouses tend to receive higher refill requests, showing alignment between storage capability and demand.</a:t>
            </a:r>
          </a:p>
          <a:p>
            <a:r>
              <a:rPr lang="en-US" dirty="0"/>
              <a:t>Workforce Impact: Rural areas have more warehouses and higher workforce levels compared to urban areas, reflecting stronger operational presence in rural regions.</a:t>
            </a:r>
          </a:p>
          <a:p>
            <a:r>
              <a:rPr lang="en-US" dirty="0"/>
              <a:t>Workforce vs Storage Issues: The correlation between workforce size and storage issues is very weak suggesting manpower alone does not reduce operational issues.</a:t>
            </a:r>
          </a:p>
          <a:p>
            <a:r>
              <a:rPr lang="en-US" dirty="0"/>
              <a:t>Logistics Challenge: North Zone reported the highest number of transport issues last year, indicating potential distribution or logistics challenges.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0464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DD68-2E5E-D975-5143-DF9FE5FD5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ACCESS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E8FBB77-F402-EC2B-1B53-D1A061D94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18" y="1430919"/>
            <a:ext cx="4346950" cy="267087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AA94BD4-A7F5-30A7-B468-A27C0455C9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270" y="1430919"/>
            <a:ext cx="4346950" cy="267087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7835EFF-358B-8328-21F5-CAEF83871736}"/>
              </a:ext>
            </a:extLst>
          </p:cNvPr>
          <p:cNvSpPr txBox="1"/>
          <p:nvPr/>
        </p:nvSpPr>
        <p:spPr>
          <a:xfrm>
            <a:off x="747251" y="5338915"/>
            <a:ext cx="5761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Click </a:t>
            </a:r>
            <a:r>
              <a:rPr lang="en-IN" sz="2000" dirty="0"/>
              <a:t>here</a:t>
            </a:r>
            <a:r>
              <a:rPr lang="en-IN" dirty="0"/>
              <a:t> to Open : </a:t>
            </a:r>
            <a:r>
              <a:rPr lang="en-IN" dirty="0">
                <a:hlinkClick r:id="rId4" action="ppaction://hlinkfile"/>
              </a:rPr>
              <a:t>ExcelCaseStudy.xlsx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6160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F25A6-CDD1-F265-6A09-38F203DC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96" y="488881"/>
            <a:ext cx="8534400" cy="1507067"/>
          </a:xfrm>
        </p:spPr>
        <p:txBody>
          <a:bodyPr>
            <a:normAutofit/>
          </a:bodyPr>
          <a:lstStyle/>
          <a:p>
            <a:r>
              <a:rPr lang="en-US" sz="4800" dirty="0"/>
              <a:t>RECOMMENDED ACTIONS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0A5AA-EA68-5A8D-178B-FC3FD8069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3" y="1995948"/>
            <a:ext cx="10515600" cy="42203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Logistics: Optimize refill schedules and enhance transport routes to reduce delivery delay delays</a:t>
            </a:r>
          </a:p>
          <a:p>
            <a:pPr>
              <a:lnSpc>
                <a:spcPct val="150000"/>
              </a:lnSpc>
            </a:pPr>
            <a:r>
              <a:rPr lang="en-US" dirty="0"/>
              <a:t>Storage: Upgrade warehouse storage conditions based on product weight and handling requirements.</a:t>
            </a:r>
          </a:p>
          <a:p>
            <a:pPr>
              <a:lnSpc>
                <a:spcPct val="150000"/>
              </a:lnSpc>
            </a:pPr>
            <a:r>
              <a:rPr lang="en-US" dirty="0"/>
              <a:t>Compliance: Streamline government certifications and inspections to minimize operational downtime.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07575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</TotalTime>
  <Words>591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FMCG Warehouse: Optimizing Amazon's Distribution Efficiency EXCEL CASE STUDY</vt:lpstr>
      <vt:lpstr>DATA REQUIREMENTS</vt:lpstr>
      <vt:lpstr>PROBLEM STATEMENT</vt:lpstr>
      <vt:lpstr>METHODOLOGY</vt:lpstr>
      <vt:lpstr>PowerPoint Presentation</vt:lpstr>
      <vt:lpstr>PowerPoint Presentation</vt:lpstr>
      <vt:lpstr>Key Insights</vt:lpstr>
      <vt:lpstr>DASHBOARD ACCESS</vt:lpstr>
      <vt:lpstr>RECOMMENDED 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komal chahal</dc:creator>
  <cp:lastModifiedBy>komal chahal</cp:lastModifiedBy>
  <cp:revision>5</cp:revision>
  <dcterms:created xsi:type="dcterms:W3CDTF">2026-02-11T19:15:32Z</dcterms:created>
  <dcterms:modified xsi:type="dcterms:W3CDTF">2026-02-23T14:34:05Z</dcterms:modified>
</cp:coreProperties>
</file>